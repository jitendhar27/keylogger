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6/11/2024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2950" y="11049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769112" y="3161685"/>
            <a:ext cx="9301226" cy="509114"/>
          </a:xfrm>
          <a:prstGeom prst="rect">
            <a:avLst/>
          </a:prstGeom>
        </p:spPr>
        <p:txBody>
          <a:bodyPr vert="horz" wrap="square" lIns="0" tIns="16510" rIns="0" bIns="0" rtlCol="0">
            <a:spAutoFit/>
          </a:bodyPr>
          <a:lstStyle/>
          <a:p>
            <a:pPr marL="3213735">
              <a:lnSpc>
                <a:spcPct val="100000"/>
              </a:lnSpc>
              <a:spcBef>
                <a:spcPts val="130"/>
              </a:spcBef>
            </a:pPr>
            <a:r>
              <a:rPr lang="en-IN" spc="15" dirty="0" err="1"/>
              <a:t>Denuvakonda</a:t>
            </a:r>
            <a:r>
              <a:rPr lang="en-IN" spc="15" dirty="0"/>
              <a:t> Bhanu Jitendhar</a:t>
            </a:r>
            <a:endParaRPr spc="15" dirty="0"/>
          </a:p>
        </p:txBody>
      </p:sp>
      <p:sp>
        <p:nvSpPr>
          <p:cNvPr id="8" name="object 8"/>
          <p:cNvSpPr txBox="1"/>
          <p:nvPr/>
        </p:nvSpPr>
        <p:spPr>
          <a:xfrm>
            <a:off x="6068568" y="3931335"/>
            <a:ext cx="185928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D936B"/>
                </a:solidFill>
                <a:latin typeface="Trebuchet MS"/>
                <a:cs typeface="Trebuchet MS"/>
              </a:rPr>
              <a:t>Final</a:t>
            </a:r>
            <a:r>
              <a:rPr sz="2400" b="1" spc="-165" dirty="0">
                <a:solidFill>
                  <a:srgbClr val="2D936B"/>
                </a:solidFill>
                <a:latin typeface="Trebuchet MS"/>
                <a:cs typeface="Trebuchet MS"/>
              </a:rPr>
              <a:t> </a:t>
            </a:r>
            <a:r>
              <a:rPr sz="2400" b="1" spc="-5" dirty="0">
                <a:solidFill>
                  <a:srgbClr val="2D936B"/>
                </a:solidFill>
                <a:latin typeface="Trebuchet MS"/>
                <a:cs typeface="Trebuchet MS"/>
              </a:rPr>
              <a:t>Project</a:t>
            </a:r>
            <a:endParaRPr sz="2400" dirty="0">
              <a:latin typeface="Trebuchet MS"/>
              <a:cs typeface="Trebuchet MS"/>
            </a:endParaRPr>
          </a:p>
        </p:txBody>
      </p:sp>
      <p:pic>
        <p:nvPicPr>
          <p:cNvPr id="9" name="object 9"/>
          <p:cNvPicPr/>
          <p:nvPr/>
        </p:nvPicPr>
        <p:blipFill>
          <a:blip r:embed="rId2" cstate="print"/>
          <a:stretch>
            <a:fillRect/>
          </a:stretch>
        </p:blipFill>
        <p:spPr>
          <a:xfrm>
            <a:off x="676275" y="6467475"/>
            <a:ext cx="2143125" cy="200025"/>
          </a:xfrm>
          <a:prstGeom prst="rect">
            <a:avLst/>
          </a:prstGeom>
        </p:spPr>
      </p:pic>
      <p:sp>
        <p:nvSpPr>
          <p:cNvPr id="10" name="object 10"/>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855722" y="2967036"/>
            <a:ext cx="7108825" cy="1247777"/>
          </a:xfrm>
          <a:prstGeom prst="rect">
            <a:avLst/>
          </a:prstGeom>
        </p:spPr>
        <p:txBody>
          <a:bodyPr vert="horz" wrap="square" lIns="0" tIns="16510" rIns="0" bIns="0" rtlCol="0">
            <a:spAutoFit/>
          </a:bodyPr>
          <a:lstStyle/>
          <a:p>
            <a:pPr marL="12700">
              <a:lnSpc>
                <a:spcPct val="100000"/>
              </a:lnSpc>
              <a:spcBef>
                <a:spcPts val="130"/>
              </a:spcBef>
            </a:pPr>
            <a:r>
              <a:rPr lang="en-US" sz="4000" dirty="0"/>
              <a:t>Building a Basic Key Logger in Python</a:t>
            </a:r>
            <a:endParaRPr sz="400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1" name="object 21"/>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0148605C-6D96-5EE7-D61A-0576A410D05F}"/>
              </a:ext>
            </a:extLst>
          </p:cNvPr>
          <p:cNvSpPr txBox="1"/>
          <p:nvPr/>
        </p:nvSpPr>
        <p:spPr>
          <a:xfrm>
            <a:off x="533400" y="1981200"/>
            <a:ext cx="7620000" cy="1938992"/>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t>Research keylogger ethics and Python libraries for keyboard events.</a:t>
            </a:r>
          </a:p>
          <a:p>
            <a:pPr marL="457200" indent="-457200" algn="just">
              <a:buFont typeface="Arial" panose="020B0604020202020204" pitchFamily="34" charset="0"/>
              <a:buChar char="•"/>
            </a:pPr>
            <a:r>
              <a:rPr lang="en-US" sz="2400" dirty="0"/>
              <a:t>Build a basic keylogger program using Python libraries.</a:t>
            </a:r>
          </a:p>
          <a:p>
            <a:pPr marL="457200" indent="-457200" algn="just">
              <a:buFont typeface="Arial" panose="020B0604020202020204" pitchFamily="34" charset="0"/>
              <a:buChar char="•"/>
            </a:pPr>
            <a:r>
              <a:rPr lang="en-US" sz="2400" dirty="0"/>
              <a:t>Implement core functionalities and thoroughly test on a controlled environment.</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TextBox 10">
            <a:extLst>
              <a:ext uri="{FF2B5EF4-FFF2-40B4-BE49-F238E27FC236}">
                <a16:creationId xmlns:a16="http://schemas.microsoft.com/office/drawing/2014/main" id="{88050D81-4975-C005-4801-295D173E60DE}"/>
              </a:ext>
            </a:extLst>
          </p:cNvPr>
          <p:cNvSpPr txBox="1"/>
          <p:nvPr/>
        </p:nvSpPr>
        <p:spPr>
          <a:xfrm>
            <a:off x="739775" y="2133600"/>
            <a:ext cx="7251700" cy="2308324"/>
          </a:xfrm>
          <a:prstGeom prst="rect">
            <a:avLst/>
          </a:prstGeom>
          <a:noFill/>
        </p:spPr>
        <p:txBody>
          <a:bodyPr wrap="square" rtlCol="0">
            <a:spAutoFit/>
          </a:bodyPr>
          <a:lstStyle/>
          <a:p>
            <a:pPr algn="just"/>
            <a:r>
              <a:rPr lang="en-US" sz="2400" dirty="0"/>
              <a:t>Develop a Python program that simulates a basic keylogger to understand how user input is captured and processed by the system. This program will focus on educational purposes, allowing users to explore the functionality of keyboard events and data recording in Python.</a:t>
            </a: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11" name="TextBox 10">
            <a:extLst>
              <a:ext uri="{FF2B5EF4-FFF2-40B4-BE49-F238E27FC236}">
                <a16:creationId xmlns:a16="http://schemas.microsoft.com/office/drawing/2014/main" id="{975FAFA8-7476-5267-DFD4-D51C3E90AEBD}"/>
              </a:ext>
            </a:extLst>
          </p:cNvPr>
          <p:cNvSpPr txBox="1"/>
          <p:nvPr/>
        </p:nvSpPr>
        <p:spPr>
          <a:xfrm>
            <a:off x="990600" y="2514600"/>
            <a:ext cx="7391400" cy="1815882"/>
          </a:xfrm>
          <a:prstGeom prst="rect">
            <a:avLst/>
          </a:prstGeom>
          <a:noFill/>
        </p:spPr>
        <p:txBody>
          <a:bodyPr wrap="square" rtlCol="0">
            <a:spAutoFit/>
          </a:bodyPr>
          <a:lstStyle/>
          <a:p>
            <a:pPr algn="just"/>
            <a:r>
              <a:rPr lang="en-US" sz="2800" dirty="0"/>
              <a:t>This project aims to develop a basic keylogger program using Python. The primary focus is on learning and understanding how user input is captured and processed by the system.</a:t>
            </a: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7" name="object 7"/>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9" name="TextBox 8">
            <a:extLst>
              <a:ext uri="{FF2B5EF4-FFF2-40B4-BE49-F238E27FC236}">
                <a16:creationId xmlns:a16="http://schemas.microsoft.com/office/drawing/2014/main" id="{3A09722E-3E43-1719-BD19-E1E846D974C7}"/>
              </a:ext>
            </a:extLst>
          </p:cNvPr>
          <p:cNvSpPr txBox="1"/>
          <p:nvPr/>
        </p:nvSpPr>
        <p:spPr>
          <a:xfrm>
            <a:off x="908304" y="2200041"/>
            <a:ext cx="7086600" cy="2862322"/>
          </a:xfrm>
          <a:prstGeom prst="rect">
            <a:avLst/>
          </a:prstGeom>
          <a:noFill/>
        </p:spPr>
        <p:txBody>
          <a:bodyPr wrap="square" rtlCol="0">
            <a:spAutoFit/>
          </a:bodyPr>
          <a:lstStyle/>
          <a:p>
            <a:pPr marL="742950" lvl="1" indent="-285750">
              <a:buFont typeface="Arial" panose="020B0604020202020204" pitchFamily="34" charset="0"/>
              <a:buChar char="•"/>
            </a:pPr>
            <a:r>
              <a:rPr lang="en-US" sz="2200" b="1" dirty="0"/>
              <a:t>Programmers interested in learning Python</a:t>
            </a:r>
            <a:r>
              <a:rPr lang="en-US" sz="2200" dirty="0"/>
              <a:t>:</a:t>
            </a:r>
          </a:p>
          <a:p>
            <a:pPr marL="1200150" lvl="2" indent="-285750">
              <a:buFont typeface="Arial" panose="020B0604020202020204" pitchFamily="34" charset="0"/>
              <a:buChar char="•"/>
            </a:pPr>
            <a:r>
              <a:rPr lang="en-IN" sz="2000" dirty="0"/>
              <a:t>Keyboard Event Handling Libraries</a:t>
            </a:r>
          </a:p>
          <a:p>
            <a:pPr marL="1200150" lvl="2" indent="-285750">
              <a:buFont typeface="Arial" panose="020B0604020202020204" pitchFamily="34" charset="0"/>
              <a:buChar char="•"/>
            </a:pPr>
            <a:r>
              <a:rPr lang="en-IN" sz="2000" dirty="0"/>
              <a:t>Data Recording Techniques</a:t>
            </a:r>
          </a:p>
          <a:p>
            <a:pPr marL="1200150" lvl="2" indent="-285750">
              <a:buFont typeface="Arial" panose="020B0604020202020204" pitchFamily="34" charset="0"/>
              <a:buChar char="•"/>
            </a:pPr>
            <a:r>
              <a:rPr lang="en-IN" sz="2000" dirty="0"/>
              <a:t>Ethical Considerations in Programming</a:t>
            </a:r>
          </a:p>
          <a:p>
            <a:pPr marL="742950" lvl="1" indent="-285750">
              <a:buFont typeface="Arial" panose="020B0604020202020204" pitchFamily="34" charset="0"/>
              <a:buChar char="•"/>
            </a:pPr>
            <a:r>
              <a:rPr lang="en-US" sz="2200" b="1" dirty="0"/>
              <a:t>Individuals curious about computer systems</a:t>
            </a:r>
          </a:p>
          <a:p>
            <a:pPr marL="1200150" lvl="2" indent="-285750">
              <a:buFont typeface="Arial" panose="020B0604020202020204" pitchFamily="34" charset="0"/>
              <a:buChar char="•"/>
            </a:pPr>
            <a:r>
              <a:rPr lang="en-IN" sz="2000" dirty="0"/>
              <a:t>User Input Tracking</a:t>
            </a:r>
          </a:p>
          <a:p>
            <a:pPr marL="1200150" lvl="2" indent="-285750">
              <a:buFont typeface="Arial" panose="020B0604020202020204" pitchFamily="34" charset="0"/>
              <a:buChar char="•"/>
            </a:pPr>
            <a:r>
              <a:rPr lang="en-US" sz="2000" dirty="0"/>
              <a:t>Python as a Programming Tool</a:t>
            </a:r>
            <a:endParaRPr lang="en-IN" sz="2000" dirty="0"/>
          </a:p>
          <a:p>
            <a:pPr marL="1200150" lvl="2"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p>
        </p:txBody>
      </p:sp>
      <p:pic>
        <p:nvPicPr>
          <p:cNvPr id="7" name="object 7"/>
          <p:cNvPicPr/>
          <p:nvPr/>
        </p:nvPicPr>
        <p:blipFill>
          <a:blip r:embed="rId2"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10" name="TextBox 9">
            <a:extLst>
              <a:ext uri="{FF2B5EF4-FFF2-40B4-BE49-F238E27FC236}">
                <a16:creationId xmlns:a16="http://schemas.microsoft.com/office/drawing/2014/main" id="{EDAB4DC1-8804-B153-F8D3-02362E7C3BC0}"/>
              </a:ext>
            </a:extLst>
          </p:cNvPr>
          <p:cNvSpPr txBox="1"/>
          <p:nvPr/>
        </p:nvSpPr>
        <p:spPr>
          <a:xfrm>
            <a:off x="739775" y="1905000"/>
            <a:ext cx="8480425" cy="3693319"/>
          </a:xfrm>
          <a:prstGeom prst="rect">
            <a:avLst/>
          </a:prstGeom>
          <a:noFill/>
        </p:spPr>
        <p:txBody>
          <a:bodyPr wrap="square" rtlCol="0">
            <a:spAutoFit/>
          </a:bodyPr>
          <a:lstStyle/>
          <a:p>
            <a:pPr algn="just"/>
            <a:r>
              <a:rPr lang="en-US" dirty="0"/>
              <a:t>This project proposes an "</a:t>
            </a:r>
            <a:r>
              <a:rPr lang="en-US" b="1" dirty="0"/>
              <a:t>Interactive Input Recorder</a:t>
            </a:r>
            <a:r>
              <a:rPr lang="en-US" dirty="0"/>
              <a:t>" program built with Python. It allows users to explore how user input, specifically keystrokes, are captured and processed within a computer system.</a:t>
            </a:r>
          </a:p>
          <a:p>
            <a:pPr algn="just"/>
            <a:endParaRPr lang="en-US" dirty="0"/>
          </a:p>
          <a:p>
            <a:pPr algn="just"/>
            <a:r>
              <a:rPr lang="en-IN" b="1" dirty="0"/>
              <a:t>Value Proposition:</a:t>
            </a:r>
            <a:endParaRPr lang="en-US" b="1" dirty="0"/>
          </a:p>
          <a:p>
            <a:pPr algn="just"/>
            <a:r>
              <a:rPr lang="en-US" dirty="0"/>
              <a:t>1. Learn by Doing: Users gain practical experience with Python by building a program that interacts with the system.</a:t>
            </a:r>
          </a:p>
          <a:p>
            <a:pPr algn="just"/>
            <a:r>
              <a:rPr lang="en-US" dirty="0"/>
              <a:t>2. Demystify User Input: The program helps users understand how computers record keystrokes, providing insights into system functionality.</a:t>
            </a:r>
          </a:p>
          <a:p>
            <a:pPr algn="just"/>
            <a:r>
              <a:rPr lang="en-US" dirty="0"/>
              <a:t>3. Safe and Ethical Learning: The project prioritizes ethical use, focusing on capturing anonymized data in a controlled environment.</a:t>
            </a:r>
          </a:p>
          <a:p>
            <a:pPr algn="just"/>
            <a:r>
              <a:rPr lang="en-US" dirty="0"/>
              <a:t>4. Foundation for Further Exploration: The program serves as a springboard for learning more advanced Python concepts related to user interaction and data processing.</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sz="4250" spc="10" dirty="0"/>
              <a:t>WOW</a:t>
            </a:r>
            <a:r>
              <a:rPr sz="4250" spc="85" dirty="0"/>
              <a:t> </a:t>
            </a:r>
            <a:r>
              <a:rPr sz="4250" spc="10" dirty="0"/>
              <a:t>IN</a:t>
            </a:r>
            <a:r>
              <a:rPr sz="4250" spc="-5" dirty="0"/>
              <a:t> </a:t>
            </a:r>
            <a:r>
              <a:rPr sz="4250" spc="15" dirty="0"/>
              <a:t>YOUR</a:t>
            </a:r>
            <a:r>
              <a:rPr sz="4250" spc="-10" dirty="0"/>
              <a:t> </a:t>
            </a:r>
            <a:r>
              <a:rPr sz="4250" spc="20" dirty="0"/>
              <a:t>SOLUTION</a:t>
            </a:r>
            <a:endParaRPr sz="4250"/>
          </a:p>
        </p:txBody>
      </p:sp>
      <p:sp>
        <p:nvSpPr>
          <p:cNvPr id="9" name="Text Placeholder 8">
            <a:extLst>
              <a:ext uri="{FF2B5EF4-FFF2-40B4-BE49-F238E27FC236}">
                <a16:creationId xmlns:a16="http://schemas.microsoft.com/office/drawing/2014/main" id="{11ABDAB0-80F5-E89F-AB47-DBCB71B77CC8}"/>
              </a:ext>
            </a:extLst>
          </p:cNvPr>
          <p:cNvSpPr>
            <a:spLocks noGrp="1"/>
          </p:cNvSpPr>
          <p:nvPr>
            <p:ph type="body" idx="1"/>
          </p:nvPr>
        </p:nvSpPr>
        <p:spPr>
          <a:xfrm>
            <a:off x="3810000" y="2495788"/>
            <a:ext cx="4114800" cy="3323987"/>
          </a:xfrm>
        </p:spPr>
        <p:txBody>
          <a:bodyPr/>
          <a:lstStyle/>
          <a:p>
            <a:r>
              <a:rPr lang="en-IN" dirty="0"/>
              <a:t>1. Interactive Visualizations:</a:t>
            </a:r>
          </a:p>
          <a:p>
            <a:r>
              <a:rPr lang="en-IN" dirty="0"/>
              <a:t>	Heatmap</a:t>
            </a:r>
          </a:p>
          <a:p>
            <a:r>
              <a:rPr lang="en-IN" dirty="0"/>
              <a:t>	Character Breakdown</a:t>
            </a:r>
          </a:p>
          <a:p>
            <a:endParaRPr lang="en-IN" dirty="0"/>
          </a:p>
          <a:p>
            <a:r>
              <a:rPr lang="en-IN" dirty="0"/>
              <a:t>2. Engaging User Interface:</a:t>
            </a:r>
          </a:p>
          <a:p>
            <a:r>
              <a:rPr lang="en-IN" dirty="0"/>
              <a:t>	Customization Options</a:t>
            </a:r>
          </a:p>
          <a:p>
            <a:r>
              <a:rPr lang="en-IN" dirty="0"/>
              <a:t>	Live Recording Feedback</a:t>
            </a:r>
          </a:p>
          <a:p>
            <a:endParaRPr lang="en-IN" dirty="0"/>
          </a:p>
          <a:p>
            <a:r>
              <a:rPr lang="en-IN" dirty="0"/>
              <a:t>3. Educational Applications:</a:t>
            </a:r>
          </a:p>
          <a:p>
            <a:r>
              <a:rPr lang="en-IN" dirty="0"/>
              <a:t>	Touch Typing Practice</a:t>
            </a:r>
          </a:p>
          <a:p>
            <a:r>
              <a:rPr lang="en-IN" dirty="0"/>
              <a:t>	Accessibility Tool Exploration</a:t>
            </a:r>
          </a:p>
          <a:p>
            <a:r>
              <a:rPr lang="en-IN" dirty="0"/>
              <a:t>	Understanding User Behaviour.</a:t>
            </a:r>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9</a:t>
            </a:fld>
            <a:endParaRPr sz="1100">
              <a:latin typeface="Trebuchet MS"/>
              <a:cs typeface="Trebuchet MS"/>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a:cs typeface="Trebuchet MS"/>
              </a:rPr>
              <a:t>M</a:t>
            </a:r>
            <a:r>
              <a:rPr sz="4800" b="1" dirty="0">
                <a:latin typeface="Trebuchet MS"/>
                <a:cs typeface="Trebuchet MS"/>
              </a:rPr>
              <a:t>O</a:t>
            </a:r>
            <a:r>
              <a:rPr sz="4800" b="1" spc="-15" dirty="0">
                <a:latin typeface="Trebuchet MS"/>
                <a:cs typeface="Trebuchet MS"/>
              </a:rPr>
              <a:t>D</a:t>
            </a:r>
            <a:r>
              <a:rPr sz="4800" b="1" spc="-35" dirty="0">
                <a:latin typeface="Trebuchet MS"/>
                <a:cs typeface="Trebuchet MS"/>
              </a:rPr>
              <a:t>E</a:t>
            </a:r>
            <a:r>
              <a:rPr sz="4800" b="1" spc="-30" dirty="0">
                <a:latin typeface="Trebuchet MS"/>
                <a:cs typeface="Trebuchet MS"/>
              </a:rPr>
              <a:t>LL</a:t>
            </a:r>
            <a:r>
              <a:rPr sz="4800" b="1" spc="-5" dirty="0">
                <a:latin typeface="Trebuchet MS"/>
                <a:cs typeface="Trebuchet MS"/>
              </a:rPr>
              <a:t>I</a:t>
            </a:r>
            <a:r>
              <a:rPr sz="4800" b="1" spc="30" dirty="0">
                <a:latin typeface="Trebuchet MS"/>
                <a:cs typeface="Trebuchet MS"/>
              </a:rPr>
              <a:t>N</a:t>
            </a:r>
            <a:r>
              <a:rPr sz="4800" b="1" spc="5" dirty="0">
                <a:latin typeface="Trebuchet MS"/>
                <a:cs typeface="Trebuchet MS"/>
              </a:rPr>
              <a:t>G</a:t>
            </a:r>
            <a:endParaRPr sz="4800">
              <a:latin typeface="Trebuchet MS"/>
              <a:cs typeface="Trebuchet MS"/>
            </a:endParaRPr>
          </a:p>
        </p:txBody>
      </p:sp>
      <p:sp>
        <p:nvSpPr>
          <p:cNvPr id="10" name="TextBox 9">
            <a:extLst>
              <a:ext uri="{FF2B5EF4-FFF2-40B4-BE49-F238E27FC236}">
                <a16:creationId xmlns:a16="http://schemas.microsoft.com/office/drawing/2014/main" id="{588C37A7-553B-91FE-6C8D-D3F90E6F28FA}"/>
              </a:ext>
            </a:extLst>
          </p:cNvPr>
          <p:cNvSpPr txBox="1"/>
          <p:nvPr/>
        </p:nvSpPr>
        <p:spPr>
          <a:xfrm>
            <a:off x="914400" y="2019299"/>
            <a:ext cx="640080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The program starts and initializes the event listener and data recorder components.</a:t>
            </a:r>
          </a:p>
          <a:p>
            <a:pPr marL="285750" indent="-285750">
              <a:buFont typeface="Arial" panose="020B0604020202020204" pitchFamily="34" charset="0"/>
              <a:buChar char="•"/>
            </a:pPr>
            <a:r>
              <a:rPr lang="en-US" dirty="0"/>
              <a:t>The user interacts with the program (optional UI) to initiate recording.</a:t>
            </a:r>
          </a:p>
          <a:p>
            <a:pPr marL="285750" indent="-285750">
              <a:buFont typeface="Arial" panose="020B0604020202020204" pitchFamily="34" charset="0"/>
              <a:buChar char="•"/>
            </a:pPr>
            <a:r>
              <a:rPr lang="en-US" dirty="0"/>
              <a:t>The event listener captures keystrokes and sends the data to the data recorder.</a:t>
            </a:r>
          </a:p>
          <a:p>
            <a:pPr marL="285750" indent="-285750">
              <a:buFont typeface="Arial" panose="020B0604020202020204" pitchFamily="34" charset="0"/>
              <a:buChar char="•"/>
            </a:pPr>
            <a:r>
              <a:rPr lang="en-US" dirty="0"/>
              <a:t>The data recorder stores the captured keystrokes in the chosen format.</a:t>
            </a:r>
          </a:p>
          <a:p>
            <a:pPr marL="285750" indent="-285750">
              <a:buFont typeface="Arial" panose="020B0604020202020204" pitchFamily="34" charset="0"/>
              <a:buChar char="•"/>
            </a:pPr>
            <a:r>
              <a:rPr lang="en-US" dirty="0"/>
              <a:t>(Optional) The data visualization component can process and display the recorded data.</a:t>
            </a:r>
          </a:p>
          <a:p>
            <a:pPr marL="285750" indent="-285750">
              <a:buFont typeface="Arial" panose="020B0604020202020204" pitchFamily="34" charset="0"/>
              <a:buChar char="•"/>
            </a:pPr>
            <a:r>
              <a:rPr lang="en-US" dirty="0"/>
              <a:t>The user interacts with the program again (optional UI) to stop recording, clear data, or exit the program.</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2437130"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pic>
        <p:nvPicPr>
          <p:cNvPr id="10" name="Picture 9">
            <a:extLst>
              <a:ext uri="{FF2B5EF4-FFF2-40B4-BE49-F238E27FC236}">
                <a16:creationId xmlns:a16="http://schemas.microsoft.com/office/drawing/2014/main" id="{51936C9C-851C-6240-CC92-CFAE59CBCAA7}"/>
              </a:ext>
            </a:extLst>
          </p:cNvPr>
          <p:cNvPicPr>
            <a:picLocks noChangeAspect="1"/>
          </p:cNvPicPr>
          <p:nvPr/>
        </p:nvPicPr>
        <p:blipFill>
          <a:blip r:embed="rId3"/>
          <a:stretch>
            <a:fillRect/>
          </a:stretch>
        </p:blipFill>
        <p:spPr>
          <a:xfrm>
            <a:off x="597994" y="1857375"/>
            <a:ext cx="2082516" cy="2338618"/>
          </a:xfrm>
          <a:prstGeom prst="rect">
            <a:avLst/>
          </a:prstGeom>
        </p:spPr>
      </p:pic>
      <p:pic>
        <p:nvPicPr>
          <p:cNvPr id="14" name="Picture 13">
            <a:extLst>
              <a:ext uri="{FF2B5EF4-FFF2-40B4-BE49-F238E27FC236}">
                <a16:creationId xmlns:a16="http://schemas.microsoft.com/office/drawing/2014/main" id="{18A6385E-B175-CEFC-A7A7-360AFEC9C0F4}"/>
              </a:ext>
            </a:extLst>
          </p:cNvPr>
          <p:cNvPicPr>
            <a:picLocks noChangeAspect="1"/>
          </p:cNvPicPr>
          <p:nvPr/>
        </p:nvPicPr>
        <p:blipFill>
          <a:blip r:embed="rId4"/>
          <a:stretch>
            <a:fillRect/>
          </a:stretch>
        </p:blipFill>
        <p:spPr>
          <a:xfrm>
            <a:off x="457200" y="4493653"/>
            <a:ext cx="9077325" cy="9534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TotalTime>
  <Words>477</Words>
  <Application>Microsoft Office PowerPoint</Application>
  <PresentationFormat>Widescreen</PresentationFormat>
  <Paragraphs>68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Denuvakonda Bhanu Jitendhar</vt:lpstr>
      <vt:lpstr>Building a Basic Key Logger in Python</vt:lpstr>
      <vt:lpstr>AGENDA</vt:lpstr>
      <vt:lpstr>PROBLEM STATEMENT</vt:lpstr>
      <vt:lpstr>PROJECT OVERVIEW</vt:lpstr>
      <vt:lpstr>WHO ARE THE END USERS?</vt:lpstr>
      <vt:lpstr>SOLUTION AND ITS VALUE PROPOSITION</vt:lpstr>
      <vt:lpstr>THE WOW IN YOUR SOLUTION</vt:lpstr>
      <vt:lpstr>PowerPoint Presentation</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Bhanu Jitendhar</cp:lastModifiedBy>
  <cp:revision>3</cp:revision>
  <dcterms:created xsi:type="dcterms:W3CDTF">2024-06-03T05:48:59Z</dcterms:created>
  <dcterms:modified xsi:type="dcterms:W3CDTF">2024-06-11T05:44:52Z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2024-06-03T00:00:00Z</vt:filetime>
  </property>
</Properties>
</file>